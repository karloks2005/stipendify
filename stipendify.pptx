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9"/>
  </p:notesMasterIdLst>
  <p:sldIdLst>
    <p:sldId id="265" r:id="rId3"/>
    <p:sldId id="257" r:id="rId4"/>
    <p:sldId id="266" r:id="rId5"/>
    <p:sldId id="267" r:id="rId6"/>
    <p:sldId id="268" r:id="rId7"/>
    <p:sldId id="259" r:id="rId8"/>
    <p:sldId id="269" r:id="rId9"/>
    <p:sldId id="276" r:id="rId10"/>
    <p:sldId id="277" r:id="rId11"/>
    <p:sldId id="278" r:id="rId12"/>
    <p:sldId id="261" r:id="rId13"/>
    <p:sldId id="275" r:id="rId14"/>
    <p:sldId id="260" r:id="rId15"/>
    <p:sldId id="262" r:id="rId16"/>
    <p:sldId id="274" r:id="rId17"/>
    <p:sldId id="26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97366" autoAdjust="0"/>
  </p:normalViewPr>
  <p:slideViewPr>
    <p:cSldViewPr snapToGrid="0">
      <p:cViewPr varScale="1">
        <p:scale>
          <a:sx n="63" d="100"/>
          <a:sy n="63" d="100"/>
        </p:scale>
        <p:origin x="53" y="677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21.1.2026.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21.1.2026.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21.1.2026.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21.1.2026.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21.1.2026.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21.1.2026.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21.1.2026.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21.1.2026.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21.1.2026.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21.1.2026.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21.1.2026.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stipendify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14.3 Stipendify</a:t>
            </a:r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Karlo Kajba Šimanić</a:t>
            </a:r>
            <a:r>
              <a:rPr lang="hr-HR" dirty="0"/>
              <a:t> (voditelj) – frontend, networking, pojedini dijelovi dokumentacije</a:t>
            </a:r>
          </a:p>
          <a:p>
            <a:r>
              <a:rPr lang="hr-HR" b="1" noProof="0" dirty="0"/>
              <a:t>Petar Gavrić </a:t>
            </a:r>
            <a:r>
              <a:rPr lang="hr-HR" b="1" dirty="0"/>
              <a:t>– </a:t>
            </a:r>
            <a:r>
              <a:rPr lang="hr-HR" dirty="0"/>
              <a:t>UI/UX, vizualni dizajn cijele aplikacije, frontend</a:t>
            </a:r>
          </a:p>
          <a:p>
            <a:r>
              <a:rPr lang="hr-HR" b="1" noProof="0" dirty="0"/>
              <a:t>Klara Klanac</a:t>
            </a:r>
            <a:r>
              <a:rPr lang="hr-HR" noProof="0" dirty="0"/>
              <a:t> – baze podataka, dokumentacij</a:t>
            </a:r>
            <a:r>
              <a:rPr lang="hr-HR" dirty="0"/>
              <a:t>a (svi dijelovi vezani uz bazu podataka), backend</a:t>
            </a:r>
          </a:p>
          <a:p>
            <a:r>
              <a:rPr lang="hr-HR" b="1" noProof="0" dirty="0"/>
              <a:t>Toni </a:t>
            </a:r>
            <a:r>
              <a:rPr lang="hr-HR" b="1" dirty="0"/>
              <a:t>Kukec</a:t>
            </a:r>
            <a:r>
              <a:rPr lang="hr-HR" dirty="0"/>
              <a:t> – backend, dokumentacija (većina dijagrama)</a:t>
            </a:r>
          </a:p>
          <a:p>
            <a:r>
              <a:rPr lang="hr-HR" b="1" noProof="0" dirty="0"/>
              <a:t>Karlo Mance</a:t>
            </a:r>
            <a:r>
              <a:rPr lang="hr-HR" noProof="0" dirty="0"/>
              <a:t> – web scraping</a:t>
            </a:r>
            <a:r>
              <a:rPr lang="hr-HR" dirty="0"/>
              <a:t> i pojedini dijelovi dokumentacije</a:t>
            </a:r>
          </a:p>
          <a:p>
            <a:r>
              <a:rPr lang="hr-HR" b="1" noProof="0" dirty="0"/>
              <a:t>Dora Mitić</a:t>
            </a:r>
            <a:r>
              <a:rPr lang="hr-HR" noProof="0" dirty="0"/>
              <a:t> – web scraping, frontend</a:t>
            </a:r>
            <a:r>
              <a:rPr lang="hr-HR" dirty="0"/>
              <a:t>, izrada prezentacije</a:t>
            </a:r>
          </a:p>
          <a:p>
            <a:r>
              <a:rPr lang="hr-HR" b="1" noProof="0" dirty="0"/>
              <a:t>Nika Mušić</a:t>
            </a:r>
            <a:r>
              <a:rPr lang="hr-HR" noProof="0" dirty="0"/>
              <a:t> – fronte</a:t>
            </a:r>
            <a:r>
              <a:rPr lang="hr-HR" dirty="0"/>
              <a:t>nd, UI/UX, veliki dio inicijalne aplikacije</a:t>
            </a:r>
            <a:endParaRPr lang="hr-HR" b="1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hr-HR" altLang="sr-Latn-RS" dirty="0"/>
              <a:t>Olakšava pronalazak te filtraciju i sortiranje stipendija za korisnika ovisno o uvjetima koje on ispunjava</a:t>
            </a:r>
          </a:p>
          <a:p>
            <a:pPr lvl="0"/>
            <a:r>
              <a:rPr lang="hr-HR" altLang="sr-Latn-RS" dirty="0"/>
              <a:t>Cilj: Pružiti studentima i učenicima centraliziranu listu svih dostupnih stipendija s detaljnim informacijima na jednom mjestu. Time bi korisnici mogli:</a:t>
            </a:r>
          </a:p>
          <a:p>
            <a:pPr lvl="1"/>
            <a:r>
              <a:rPr lang="hr-HR" altLang="sr-Latn-RS" dirty="0"/>
              <a:t>Saznati sve stipendije na koje ispunjavaju uvjete</a:t>
            </a:r>
          </a:p>
          <a:p>
            <a:pPr lvl="1"/>
            <a:r>
              <a:rPr lang="hr-HR" altLang="sr-Latn-RS" dirty="0"/>
              <a:t>Usporediti uvjete i beneficije različitih stipendija</a:t>
            </a:r>
          </a:p>
          <a:p>
            <a:pPr lvl="1"/>
            <a:r>
              <a:rPr lang="hr-HR" altLang="sr-Latn-RS" dirty="0"/>
              <a:t>Donijeti informiranu odluku koja stipendija im se najviše isplati</a:t>
            </a:r>
          </a:p>
          <a:p>
            <a:pPr lvl="1"/>
            <a:r>
              <a:rPr lang="hr-HR" altLang="sr-Latn-RS" dirty="0"/>
              <a:t>Uštedjeti vrijeme – umjesto pretraživanja desetaka web stranica, sve je dostupno na jednoj platformi</a:t>
            </a:r>
          </a:p>
          <a:p>
            <a:pPr lvl="1"/>
            <a:r>
              <a:rPr kumimoji="0" lang="hr-HR" altLang="sr-Latn-R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Sličnog rješenja nema.</a:t>
            </a:r>
            <a:endParaRPr lang="hr-HR" alt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Glavni funkcionalni zahtjevi:</a:t>
            </a:r>
          </a:p>
          <a:p>
            <a:r>
              <a:rPr lang="hr-HR" dirty="0"/>
              <a:t>Prikazivanje stipendija</a:t>
            </a:r>
          </a:p>
          <a:p>
            <a:r>
              <a:rPr lang="hr-HR" dirty="0"/>
              <a:t>Registracija i prijava</a:t>
            </a:r>
          </a:p>
          <a:p>
            <a:r>
              <a:rPr lang="hr-HR" dirty="0"/>
              <a:t>Ispunjavanje obrasca</a:t>
            </a:r>
          </a:p>
          <a:p>
            <a:r>
              <a:rPr lang="hr-HR" dirty="0"/>
              <a:t>Stvaranje podsjetnika</a:t>
            </a:r>
          </a:p>
          <a:p>
            <a:r>
              <a:rPr lang="hr-HR" dirty="0"/>
              <a:t>Dohvat stipendija putem RSS feeda</a:t>
            </a:r>
          </a:p>
          <a:p>
            <a:r>
              <a:rPr lang="hr-HR" b="1" dirty="0"/>
              <a:t>Glavni nefunkcijski zahtjevi:</a:t>
            </a:r>
            <a:endParaRPr lang="hr-HR" dirty="0"/>
          </a:p>
          <a:p>
            <a:r>
              <a:rPr lang="hr-HR" dirty="0"/>
              <a:t>Modularnost sustava</a:t>
            </a:r>
          </a:p>
          <a:p>
            <a:r>
              <a:rPr lang="hr-HR" noProof="0" dirty="0"/>
              <a:t>Dodavanje stipendija </a:t>
            </a:r>
          </a:p>
          <a:p>
            <a:endParaRPr lang="hr-HR" noProof="0" dirty="0"/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04FA065-B3A0-FCD6-0096-1199E877D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6387"/>
            <a:ext cx="9144000" cy="599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ADE0-B2E0-B8D9-4FA6-71625D36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E0718-CF48-996D-CF2D-3202AC2F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SEKVENCIJSKI DIJAGRAM 1: LOGIN/REG.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067AE-D65A-358F-2E08-307BBE30E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0C034-6F8E-6EFF-C24F-02A281EC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D11ACF39-1AC0-D7AE-830A-C0326A63C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78" y="925440"/>
            <a:ext cx="8146682" cy="5673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5309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27C99-63BA-162E-9F23-599246AA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8D9C-AC1A-1407-1EA7-728474D7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SEKVENCIJSKI DIJAGRAM 2: STUDENT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D0A9D-E46A-F54F-89AF-6BE205F93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79BA9-0EDC-9ADC-A515-E4A33396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CF2D4065-E265-7A42-E43E-EC561A720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2000"/>
            <a:ext cx="9144000" cy="622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898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DCAB5-2FBB-E1D1-D998-ACDDC73F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C0962-E600-5A07-9B36-C4AF5144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SEKVENCIJSKI DIJAGRAM 3: organizacija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6630B-4A76-0D4B-F83D-BFC8DB3C0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F1849-21D7-F2DF-4839-26B819DF1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9B975115-3BF5-822E-B0B8-52C5D43B0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001" y="864262"/>
            <a:ext cx="9144000" cy="599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485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noProof="0" dirty="0"/>
              <a:t>Funkcionalnost klijenta</a:t>
            </a:r>
            <a:r>
              <a:rPr lang="hr-HR" noProof="0" dirty="0"/>
              <a:t>:</a:t>
            </a:r>
            <a:r>
              <a:rPr lang="hr-HR" b="1" dirty="0"/>
              <a:t> </a:t>
            </a:r>
            <a:r>
              <a:rPr lang="hr-HR" dirty="0"/>
              <a:t>prikazuje sučelje za registraciju, prijavu, pregled, filtriranje i usporedbu stipendija upravljanje podsjetnicima</a:t>
            </a:r>
          </a:p>
          <a:p>
            <a:r>
              <a:rPr lang="hr-HR" b="1" noProof="0" dirty="0"/>
              <a:t>Komunikacija</a:t>
            </a:r>
            <a:r>
              <a:rPr lang="hr-HR" dirty="0"/>
              <a:t> </a:t>
            </a:r>
            <a:r>
              <a:rPr lang="hr-HR" b="1" dirty="0"/>
              <a:t>s poslužiteljem:</a:t>
            </a:r>
            <a:r>
              <a:rPr lang="hr-HR" dirty="0"/>
              <a:t> klijent šalje HTTP zahtjeve (GET, POST, PUT, DELETE) za dohvat i ažuriranje podataka </a:t>
            </a:r>
          </a:p>
          <a:p>
            <a:r>
              <a:rPr lang="hr-HR" b="1" noProof="0" dirty="0"/>
              <a:t>Funkcionalnosti poslužitelja</a:t>
            </a:r>
            <a:r>
              <a:rPr lang="hr-HR" noProof="0" dirty="0"/>
              <a:t>: Obrađuje zahtjeve klijenata, primjenjuje poslovnu logiku (autentifikacija, filtriranje, web scraping) i komunicira s bazom podataka</a:t>
            </a:r>
          </a:p>
          <a:p>
            <a:r>
              <a:rPr lang="hr-HR" b="1" noProof="0" dirty="0"/>
              <a:t>Baza podataka</a:t>
            </a:r>
            <a:r>
              <a:rPr lang="hr-HR" noProof="0" dirty="0"/>
              <a:t>: pohranjuje podatke o korisnicima i stipendijama </a:t>
            </a:r>
            <a:endParaRPr lang="hr-HR" b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  <p:pic>
        <p:nvPicPr>
          <p:cNvPr id="5122" name="Picture 2" descr="component diagram">
            <a:extLst>
              <a:ext uri="{FF2B5EF4-FFF2-40B4-BE49-F238E27FC236}">
                <a16:creationId xmlns:a16="http://schemas.microsoft.com/office/drawing/2014/main" id="{D1A540D3-8756-7D50-C84A-7D0E205F5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001" y="993300"/>
            <a:ext cx="9144000" cy="517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Registracija</a:t>
            </a:r>
          </a:p>
          <a:p>
            <a:r>
              <a:rPr lang="hr-HR" noProof="0" dirty="0"/>
              <a:t>Prijava u sustav</a:t>
            </a:r>
          </a:p>
          <a:p>
            <a:r>
              <a:rPr lang="hr-HR" dirty="0"/>
              <a:t>Stvaranje nove stipendije</a:t>
            </a:r>
          </a:p>
          <a:p>
            <a:r>
              <a:rPr lang="hr-HR" dirty="0"/>
              <a:t>Filtriranje stipendija </a:t>
            </a:r>
          </a:p>
          <a:p>
            <a:r>
              <a:rPr lang="hr-HR" dirty="0"/>
              <a:t>Stvaranje podsjetnika </a:t>
            </a:r>
          </a:p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noProof="0" dirty="0"/>
              <a:t>Programski jezici: </a:t>
            </a:r>
            <a:r>
              <a:rPr lang="hr-HR" noProof="0" dirty="0"/>
              <a:t>Python, JavaScript(React)</a:t>
            </a:r>
            <a:endParaRPr lang="hr-HR" b="1" noProof="0" dirty="0"/>
          </a:p>
          <a:p>
            <a:r>
              <a:rPr lang="hr-HR" b="1" dirty="0"/>
              <a:t>Radni okviri: </a:t>
            </a:r>
            <a:r>
              <a:rPr lang="hr-HR" dirty="0"/>
              <a:t>FastAPI (backend), React(frontend)</a:t>
            </a:r>
            <a:endParaRPr lang="hr-HR" b="1" dirty="0"/>
          </a:p>
          <a:p>
            <a:r>
              <a:rPr lang="hr-HR" b="1" noProof="0" dirty="0"/>
              <a:t>Baza podataka: </a:t>
            </a:r>
            <a:r>
              <a:rPr lang="hr-HR" noProof="0" dirty="0"/>
              <a:t>PostgreSQL </a:t>
            </a:r>
            <a:endParaRPr lang="hr-HR" b="1" noProof="0" dirty="0"/>
          </a:p>
          <a:p>
            <a:r>
              <a:rPr lang="hr-HR" b="1" dirty="0"/>
              <a:t>Razvojni alati: </a:t>
            </a:r>
            <a:r>
              <a:rPr lang="hr-HR" dirty="0"/>
              <a:t>VSCode, Git, Podman/Docker, text editor Vim, npm</a:t>
            </a:r>
            <a:endParaRPr lang="hr-HR" b="1" dirty="0"/>
          </a:p>
          <a:p>
            <a:r>
              <a:rPr lang="hr-HR" b="1" dirty="0"/>
              <a:t>Ispitivanje: </a:t>
            </a:r>
            <a:r>
              <a:rPr lang="hr-HR" dirty="0"/>
              <a:t>manualno testiranje funkcionalnosti, logovi backend-a, frontend „hot reload” za razvoj</a:t>
            </a:r>
            <a:endParaRPr lang="hr-HR" b="1" dirty="0"/>
          </a:p>
          <a:p>
            <a:r>
              <a:rPr lang="hr-HR" b="1" noProof="0" dirty="0"/>
              <a:t>Alati za premještaj: </a:t>
            </a:r>
            <a:r>
              <a:rPr lang="hr-HR" noProof="0" dirty="0"/>
              <a:t>Docker Compose/Podman Compose, Caddy (reverse proxy)</a:t>
            </a:r>
            <a:endParaRPr lang="hr-HR" b="1" noProof="0" dirty="0"/>
          </a:p>
          <a:p>
            <a:r>
              <a:rPr lang="hr-HR" b="1" dirty="0"/>
              <a:t>Cloud platforma</a:t>
            </a:r>
            <a:r>
              <a:rPr lang="hr-HR"/>
              <a:t>: Google </a:t>
            </a:r>
            <a:r>
              <a:rPr lang="hr-HR" dirty="0"/>
              <a:t>Oauth 2.0, Mailjet API</a:t>
            </a:r>
            <a:endParaRPr lang="hr-HR" b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Dogovaranje uglavnom preko WhatsAppa (kratka pitanja i odgovori) i Discorda (detaljniji odgovori dijeljenje zaslona)</a:t>
            </a:r>
          </a:p>
          <a:p>
            <a:pPr lvl="1"/>
            <a:r>
              <a:rPr lang="hr-HR" noProof="0" dirty="0"/>
              <a:t>Grupni rad na projektu uživo</a:t>
            </a:r>
          </a:p>
          <a:p>
            <a:pPr marL="144000" lvl="1" indent="0">
              <a:buNone/>
            </a:pPr>
            <a:endParaRPr lang="hr-HR" noProof="0" dirty="0"/>
          </a:p>
          <a:p>
            <a:pPr lvl="1"/>
            <a:r>
              <a:rPr lang="hr-HR" noProof="0" dirty="0"/>
              <a:t>Primijenjeni model životnog ciklusa:</a:t>
            </a:r>
          </a:p>
          <a:p>
            <a:pPr lvl="1"/>
            <a:r>
              <a:rPr lang="hr-HR" b="1" noProof="0" dirty="0"/>
              <a:t>Vodopadni model</a:t>
            </a:r>
            <a:r>
              <a:rPr lang="hr-HR" noProof="0" dirty="0"/>
              <a:t>; radili smo fazu po fazu (specifikacija problema -&gt; dizajn -&gt; implementacija -&gt; testiranje) Tablica raščlambe zadataka članova s procijenjenim naporom u satima (jedan slajd)</a:t>
            </a:r>
          </a:p>
          <a:p>
            <a:pPr lvl="1"/>
            <a:r>
              <a:rPr lang="hr-HR" b="1" noProof="0" dirty="0"/>
              <a:t>Iterativno</a:t>
            </a:r>
            <a:r>
              <a:rPr lang="hr-HR" noProof="0" dirty="0"/>
              <a:t> – testiranje i poboljšavanje funkcionalnosti pojedinih najbitnijih značajki projekta</a:t>
            </a:r>
            <a:endParaRPr lang="hr-HR" b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E5E1B0-FC4C-165C-2348-12101AD3E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84" y="723278"/>
            <a:ext cx="9144000" cy="592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Naučene lekcije</a:t>
            </a:r>
          </a:p>
          <a:p>
            <a:pPr lvl="1"/>
            <a:r>
              <a:rPr lang="hr-HR" noProof="0" dirty="0"/>
              <a:t>Version control: korištenje Git-a, rad s granama, mergeanje, rješavanje konflikata</a:t>
            </a:r>
          </a:p>
          <a:p>
            <a:pPr lvl="1"/>
            <a:r>
              <a:rPr lang="hr-HR" dirty="0"/>
              <a:t>Backend i frontend development</a:t>
            </a:r>
          </a:p>
          <a:p>
            <a:pPr lvl="1"/>
            <a:r>
              <a:rPr lang="hr-HR" noProof="0" dirty="0"/>
              <a:t>Rad na pravoj bazi podataka </a:t>
            </a:r>
          </a:p>
          <a:p>
            <a:pPr lvl="1"/>
            <a:r>
              <a:rPr lang="hr-HR" dirty="0"/>
              <a:t>Web scrapeanje </a:t>
            </a:r>
          </a:p>
          <a:p>
            <a:pPr lvl="1"/>
            <a:r>
              <a:rPr lang="hr-HR" noProof="0" dirty="0"/>
              <a:t>Rješavanje errora, debugging</a:t>
            </a:r>
          </a:p>
          <a:p>
            <a:pPr lvl="1"/>
            <a:endParaRPr lang="hr-HR" dirty="0"/>
          </a:p>
          <a:p>
            <a:r>
              <a:rPr lang="hr-HR" noProof="0" dirty="0"/>
              <a:t>Izazovi i njihova rješenja</a:t>
            </a:r>
          </a:p>
          <a:p>
            <a:pPr lvl="1"/>
            <a:r>
              <a:rPr lang="hr-HR" noProof="0" dirty="0"/>
              <a:t>Neznanje korištenja alata, tehnologija za razvoj aplikacije </a:t>
            </a:r>
          </a:p>
          <a:p>
            <a:pPr lvl="1"/>
            <a:r>
              <a:rPr lang="hr-HR" noProof="0" dirty="0"/>
              <a:t>Usporena sinkronizacija unutar tima tijekom određenih perioda</a:t>
            </a:r>
          </a:p>
          <a:p>
            <a:pPr lvl="1"/>
            <a:r>
              <a:rPr lang="hr-HR" b="1" noProof="0" dirty="0"/>
              <a:t>Rješenje: Suradnja u grupi, komunikacija s asistentom i ostvarena količina truda svih u grupi </a:t>
            </a:r>
          </a:p>
          <a:p>
            <a:pPr lvl="1"/>
            <a:endParaRPr lang="hr-HR" noProof="0" dirty="0"/>
          </a:p>
          <a:p>
            <a:pPr lvl="1"/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4189</TotalTime>
  <Words>614</Words>
  <Application>Microsoft Office PowerPoint</Application>
  <PresentationFormat>On-screen Show (4:3)</PresentationFormat>
  <Paragraphs>110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stipendify</vt:lpstr>
      <vt:lpstr>Sadržaj</vt:lpstr>
      <vt:lpstr>Sadržaj</vt:lpstr>
      <vt:lpstr>Članovi grupe</vt:lpstr>
      <vt:lpstr>O projektu</vt:lpstr>
      <vt:lpstr>Pregled zahtjeva</vt:lpstr>
      <vt:lpstr>UML dijagram obrazaca uporabe</vt:lpstr>
      <vt:lpstr>UML SEKVENCIJSKI DIJAGRAM 1: LOGIN/REG.</vt:lpstr>
      <vt:lpstr>UML SEKVENCIJSKI DIJAGRAM 2: STUDENT</vt:lpstr>
      <vt:lpstr>UML SEKVENCIJSKI DIJAGRAM 3: organizacija</vt:lpstr>
      <vt:lpstr>Arhitektura sustava</vt:lpstr>
      <vt:lpstr>Ispitivanje</vt:lpstr>
      <vt:lpstr>Korišteni alati i tehnologije</vt:lpstr>
      <vt:lpstr>Organizacija rada</vt:lpstr>
      <vt:lpstr>Demonstracija aplikacije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Dora Mitić</cp:lastModifiedBy>
  <cp:revision>23</cp:revision>
  <dcterms:created xsi:type="dcterms:W3CDTF">2016-01-18T13:10:52Z</dcterms:created>
  <dcterms:modified xsi:type="dcterms:W3CDTF">2026-01-23T21:30:00Z</dcterms:modified>
</cp:coreProperties>
</file>